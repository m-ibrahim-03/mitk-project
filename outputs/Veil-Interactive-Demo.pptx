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2.xml"/><Relationship Id="rId4" Type="http://schemas.openxmlformats.org/officeDocument/2006/relationships/slide" Target="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60A5FA"/>
                </a:solidFill>
                <a:latin typeface="Segoe UI"/>
              </a:rPr>
              <a:t>PRIVACY MIDDLEWARE FOR AGENT TOOL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11247120" cy="118872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7200" b="1">
                <a:solidFill>
                  <a:srgbClr val="FFFFFF"/>
                </a:solidFill>
                <a:latin typeface="Segoe UI"/>
              </a:rPr>
              <a:t>Veil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926080"/>
            <a:ext cx="8869680" cy="82296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>
                <a:solidFill>
                  <a:srgbClr val="94A3B8"/>
                </a:solidFill>
                <a:latin typeface="Segoe UI"/>
              </a:rPr>
              <a:t>The agent works while Veil controls what crosses the tool boundary — and you can inspect what the tool actually received.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3931920"/>
            <a:ext cx="4114800" cy="566928"/>
          </a:xfrm>
          <a:prstGeom prst="roundRect">
            <a:avLst/>
          </a:prstGeom>
          <a:solidFill>
            <a:srgbClr val="14283C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2C55E"/>
                </a:solidFill>
                <a:latin typeface="Segoe UI"/>
              </a:rPr>
              <a:t>Demo key:  TICKET-DEMO-1042   •   synthetic data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Deterministic offline  •  Optional Gemini  •  Simulated local helpdesk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5394960" y="5577840"/>
            <a:ext cx="1463040" cy="54864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START  ▶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10149840" y="6263640"/>
            <a:ext cx="1051560" cy="411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1 / 8   •   Veil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INTERACTIVE 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Pick a section — click any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Every card jumps straight to its slide. Each slide has HOME + NEXT buttons.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640080" y="1920240"/>
            <a:ext cx="3291840" cy="173736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03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Architecture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4297680" y="1920240"/>
            <a:ext cx="3291840" cy="173736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04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Step-by-step flow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7955279" y="1920240"/>
            <a:ext cx="3291840" cy="173736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05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Gateway zoom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640080" y="4023360"/>
            <a:ext cx="3291840" cy="173736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06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Detectors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4297680" y="4023360"/>
            <a:ext cx="3291840" cy="173736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07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Agents &amp; UIs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7955279" y="4023360"/>
            <a:ext cx="3291840" cy="173736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08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Proof &amp;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Tip: press F5 to present — hyperlinks work while presenting. Add Morph transitions in PowerPoint for animation.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03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The gateway is the only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Agent can never call the tool directly.</a:t>
            </a:r>
          </a:p>
        </p:txBody>
      </p:sp>
      <p:pic>
        <p:nvPicPr>
          <p:cNvPr id="5" name="Picture 4" descr="veil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663440"/>
          </a:xfrm>
          <a:prstGeom prst="rect">
            <a:avLst/>
          </a:prstGeom>
        </p:spPr>
      </p:pic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11064240" y="137160"/>
            <a:ext cx="685800" cy="3657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HOME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0149840" y="6263640"/>
            <a:ext cx="1051560" cy="411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3 / 8   •   Veil demo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04 • STEP-BY-STEP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One run, eight steps, one run_id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Chat and workflow pages share the same backend run.</a:t>
            </a:r>
          </a:p>
        </p:txBody>
      </p:sp>
      <p:pic>
        <p:nvPicPr>
          <p:cNvPr id="5" name="Picture 4" descr="vei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11274552" cy="4663440"/>
          </a:xfrm>
          <a:prstGeom prst="rect">
            <a:avLst/>
          </a:prstGeom>
        </p:spPr>
      </p:pic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11064240" y="137160"/>
            <a:ext cx="685800" cy="3657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HOME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0149840" y="6263640"/>
            <a:ext cx="1051560" cy="411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4 / 8   •   Veil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05 • GATEWAY ZOOM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Scan → verify → dispatch → restore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VeilGateway.call_tool — every agent-to-tool call passes 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51760" cy="3017520"/>
          </a:xfrm>
          <a:prstGeom prst="roundRect">
            <a:avLst/>
          </a:prstGeom>
          <a:solidFill>
            <a:srgbClr val="16213E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1  SCAN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Recursive text+JSON scan
tokens like [[EMAIL:V..]]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200400"/>
            <a:ext cx="320040" cy="54864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60A5FA"/>
                </a:solidFill>
                <a:latin typeface="Segoe UI"/>
              </a:rPr>
              <a:t>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651760" cy="3017520"/>
          </a:xfrm>
          <a:prstGeom prst="roundRect">
            <a:avLst/>
          </a:prstGeom>
          <a:solidFill>
            <a:srgbClr val="16213E"/>
          </a:solidFill>
          <a:ln w="317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2  VERIFY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Re-scan exact payload
fail-closed on residue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3200400"/>
            <a:ext cx="320040" cy="54864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FBBF24"/>
                </a:solidFill>
                <a:latin typeface="Segoe UI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2651760" cy="3017520"/>
          </a:xfrm>
          <a:prstGeom prst="roundRect">
            <a:avLst/>
          </a:prstGeom>
          <a:solidFill>
            <a:srgbClr val="16213E"/>
          </a:solidFill>
          <a:ln w="317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3  DISPATCH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Helpdesk sees tokens
EXACT receipt captured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200400"/>
            <a:ext cx="320040" cy="54864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22C55E"/>
                </a:solidFill>
                <a:latin typeface="Segoe U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2011680"/>
            <a:ext cx="2651760" cy="3017520"/>
          </a:xfrm>
          <a:prstGeom prst="roundRect">
            <a:avLst/>
          </a:prstGeom>
          <a:solidFill>
            <a:srgbClr val="16213E"/>
          </a:solidFill>
          <a:ln w="317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Segoe UI"/>
              </a:rPr>
              <a:t>4  RESTORE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Vault maps back
trusted path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03520"/>
            <a:ext cx="11064240" cy="731520"/>
          </a:xfrm>
          <a:prstGeom prst="roundRect">
            <a:avLst/>
          </a:prstGeom>
          <a:solidFill>
            <a:srgbClr val="3C1419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87171"/>
                </a:solidFill>
                <a:latin typeface="Segoe UI"/>
              </a:rPr>
              <a:t>Blocked path:  gate stops the run  —  0 tool calls, 0 receipts, no invented answer.</a:t>
            </a:r>
          </a:p>
        </p:txBody>
      </p:sp>
      <p:sp>
        <p:nvSpPr>
          <p:cNvPr id="13" name="Rounded Rectangle 12">
            <a:hlinkClick action="ppaction://hlinksldjump" r:id="rId2"/>
          </p:cNvPr>
          <p:cNvSpPr/>
          <p:nvPr/>
        </p:nvSpPr>
        <p:spPr>
          <a:xfrm>
            <a:off x="11064240" y="137160"/>
            <a:ext cx="685800" cy="3657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HOME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10149840" y="6263640"/>
            <a:ext cx="1051560" cy="411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5 / 8   •   Veil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06 • DETECTORS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11 selected patterns + custom literals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Deterministic regex + checksum — limited by design, never universal.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EMAIL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RFC-like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920240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PHONE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formatted+label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920240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PERSON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lexicon+context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199" y="1920240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AADHAAR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labelled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920240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BANK AC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labelled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1920240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UPI ID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VPA handles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CARD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Luhn check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3749039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IBAN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mod-97 shortest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3749039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PAN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5L+4D+1L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199" y="3749039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IFSC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4L+0+6AN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3749039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STU ID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STU-DEMO-5d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3749039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CUSTOM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exact literals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Priority + overlap resolution stop a card substring becoming a phone hit. Tokens are pseudonyms, NOT encryption.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11064240" y="137160"/>
            <a:ext cx="685800" cy="3657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HOME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10149840" y="6263640"/>
            <a:ext cx="1051560" cy="411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6 / 8   •   Veil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07 • AGENTS &amp; SCREENS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Same run, two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POST /api/runs once — chat shows the answer, workflow proves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566160" cy="402336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2C55E"/>
                </a:solidFill>
                <a:latin typeface="Segoe UI"/>
              </a:rPr>
              <a:t>DETERMINISTIC (default)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Offline local agent.
No key, no network.
Repeatable judge run.
CHAT / : one message box.
Prefilled TICKET-DEMO-1042 example.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920240"/>
            <a:ext cx="3566160" cy="402336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FBBF24"/>
                </a:solidFill>
                <a:latin typeface="Segoe UI"/>
              </a:rPr>
              <a:t>GEMINI (optional)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Server-side key only.
Sees ONLY tokenized prompt.
Proposes 1 allowlisted lookup.
Still passes Veil + local tool.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20240"/>
            <a:ext cx="3566160" cy="402336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0A5FA"/>
                </a:solidFill>
                <a:latin typeface="Segoe UI"/>
              </a:rPr>
              <a:t>WORKFLOW /runs/{id}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Segoe UI"/>
              </a:rPr>
              <a:t>6 connected stages.
Exact helpdesk receipt.
Tokenized vs restored reply.
Blocked = 'not reached'.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11064240" y="137160"/>
            <a:ext cx="685800" cy="3657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HOME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10149840" y="6263640"/>
            <a:ext cx="1051560" cy="411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NEXT 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7 / 8   •   Veil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08 • PROOF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Zero leaks on the synthetic corpus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Small fixed corpus — strong signal, not a universal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2C55E"/>
                </a:solidFill>
                <a:latin typeface="Segoe UI"/>
              </a:rPr>
              <a:t>49/49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dev spans found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920240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2C55E"/>
                </a:solidFill>
                <a:latin typeface="Segoe UI"/>
              </a:rPr>
              <a:t>26/26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held-out found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920240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22C55E"/>
                </a:solidFill>
                <a:latin typeface="Segoe UI"/>
              </a:rPr>
              <a:t>0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literal leaks at tool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199" y="1920240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60A5FA"/>
                </a:solidFill>
                <a:latin typeface="Segoe UI"/>
              </a:rPr>
              <a:t>100%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restoration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920240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60A5FA"/>
                </a:solidFill>
                <a:latin typeface="Segoe UI"/>
              </a:rPr>
              <a:t>99.19 / 98.48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F2 dev / held-out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1920240"/>
            <a:ext cx="1737360" cy="1554480"/>
          </a:xfrm>
          <a:prstGeom prst="roundRect">
            <a:avLst/>
          </a:prstGeom>
          <a:solidFill>
            <a:srgbClr val="16213E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BBF24"/>
                </a:solidFill>
                <a:latin typeface="Segoe UI"/>
              </a:rPr>
              <a:t>2 + 2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phone lookalike FPs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80"/>
            <a:ext cx="2651760" cy="1737360"/>
          </a:xfrm>
          <a:prstGeom prst="roundRect">
            <a:avLst/>
          </a:prstGeom>
          <a:solidFill>
            <a:srgbClr val="1E2337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Shot 1: chat + answer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[ paste screenshot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840480"/>
            <a:ext cx="2651760" cy="1737360"/>
          </a:xfrm>
          <a:prstGeom prst="roundRect">
            <a:avLst/>
          </a:prstGeom>
          <a:solidFill>
            <a:srgbClr val="1E2337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Shot 2: 6-stage workflow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[ paste screenshot 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2651760" cy="1737360"/>
          </a:xfrm>
          <a:prstGeom prst="roundRect">
            <a:avLst/>
          </a:prstGeom>
          <a:solidFill>
            <a:srgbClr val="1E2337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Shot 3: exact tool receipt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[ paste screenshot 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3840480"/>
            <a:ext cx="2651760" cy="1737360"/>
          </a:xfrm>
          <a:prstGeom prst="roundRect">
            <a:avLst/>
          </a:prstGeom>
          <a:solidFill>
            <a:srgbClr val="1E2337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Shot 4: blocked + Streamlit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[ paste screenshot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Dev: 33 cases / 49 spans • Held-out: 26 / 26 • 2026-10-10 • re-run on the judging laptop for its own latency.</a:t>
            </a:r>
          </a:p>
        </p:txBody>
      </p:sp>
      <p:sp>
        <p:nvSpPr>
          <p:cNvPr id="16" name="Rounded Rectangle 15">
            <a:hlinkClick action="ppaction://hlinksldjump" r:id="rId2"/>
          </p:cNvPr>
          <p:cNvSpPr/>
          <p:nvPr/>
        </p:nvSpPr>
        <p:spPr>
          <a:xfrm>
            <a:off x="11064240" y="137160"/>
            <a:ext cx="685800" cy="36576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HOME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2743200" cy="365760"/>
          </a:xfrm>
          <a:prstGeom prst="rect">
            <a:avLst/>
          </a:prstGeom>
          <a:noFill/>
        </p:spPr>
        <p:txBody>
          <a:bodyPr wrap="square" anchor="ctr" lIns="137160" rIns="13716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8 / 8   •   Veil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